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31850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3952" y="109728"/>
            <a:ext cx="5605272" cy="66385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3952" y="109728"/>
            <a:ext cx="5605272" cy="6638544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658368" cy="704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3312" y="4754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Poppins"/>
              </a:rPr>
              <a:t>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5895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Inter"/>
              </a:rPr>
              <a:t>GREATER NOIDA, UTTAR PRADESH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3A8A"/>
                </a:solidFill>
                <a:latin typeface="Poppins"/>
              </a:rPr>
              <a:t>B.TECH (CSE – ARTIFICIAL INTELLIGENCE)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54406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oppins"/>
              </a:rPr>
              <a:t>AI-Based Student
Performance Predictor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56432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>
                <a:solidFill>
                  <a:srgbClr val="0E7490"/>
                </a:solidFill>
                <a:latin typeface="Inter"/>
              </a:rPr>
              <a:t>A C++ Machine Learning Project using k-Nearest Neighbours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3892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Poppins"/>
              </a:rPr>
              <a:t>PROJECT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1324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Artificial Intelligence • C++ • Supervised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9712" y="868680"/>
            <a:ext cx="4754880" cy="1463040"/>
          </a:xfrm>
          <a:prstGeom prst="roundRect">
            <a:avLst/>
          </a:prstGeom>
          <a:solidFill>
            <a:srgbClr val="1E294D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0789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Poppins"/>
              </a:rPr>
              <a:t>STUDENT 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89888"/>
            <a:ext cx="4251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Poppins"/>
              </a:rPr>
              <a:t>ZUMAIR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7451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CBD5E1"/>
                </a:solidFill>
                <a:latin typeface="Inter"/>
              </a:rPr>
              <a:t>Enrollment / Roll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9397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25SCS1003004879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74519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CBD5E1"/>
                </a:solidFill>
                <a:latin typeface="Inter"/>
              </a:rPr>
              <a:t>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093976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B.Tech (CSE – AI)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5440680"/>
            <a:ext cx="4251960" cy="77724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5596128"/>
            <a:ext cx="37490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PROJECT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578815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FFFFFF"/>
                </a:solidFill>
                <a:latin typeface="Inter"/>
              </a:rPr>
              <a:t>Educational AI Prototype • Local Console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5230368" cy="2907792"/>
          </a:xfrm>
          <a:prstGeom prst="rect">
            <a:avLst/>
          </a:prstGeom>
        </p:spPr>
      </p:pic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874519"/>
            <a:ext cx="5230368" cy="2907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21945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Student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Student Name: </a:t>
            </a:r>
            <a:r>
              <a:rPr sz="1150" b="0">
                <a:solidFill>
                  <a:srgbClr val="334155"/>
                </a:solidFill>
                <a:latin typeface="Inter"/>
              </a:rPr>
              <a:t>ZUMAIR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7238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Roll Number: </a:t>
            </a:r>
            <a:r>
              <a:rPr sz="1150" b="0">
                <a:solidFill>
                  <a:srgbClr val="334155"/>
                </a:solidFill>
                <a:latin typeface="Inter"/>
              </a:rPr>
              <a:t>25SCS1003004879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65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Degree: </a:t>
            </a:r>
            <a:r>
              <a:rPr sz="1150" b="0">
                <a:solidFill>
                  <a:srgbClr val="334155"/>
                </a:solidFill>
                <a:latin typeface="Inter"/>
              </a:rPr>
              <a:t>B.Tech (CSE – Artificial Intelligence)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58768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Academic Batch: </a:t>
            </a:r>
            <a:r>
              <a:rPr sz="1150" b="0">
                <a:solidFill>
                  <a:srgbClr val="334155"/>
                </a:solidFill>
                <a:latin typeface="Inter"/>
              </a:rPr>
              <a:t>2026–2027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51960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University: </a:t>
            </a:r>
            <a:r>
              <a:rPr sz="1150" b="0">
                <a:solidFill>
                  <a:srgbClr val="334155"/>
                </a:solidFill>
                <a:latin typeface="Inter"/>
              </a:rPr>
              <a:t>IILM University, Greater Noida, U.P.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1945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Project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67919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Project: </a:t>
            </a:r>
            <a:r>
              <a:rPr sz="1150" b="0">
                <a:solidFill>
                  <a:srgbClr val="334155"/>
                </a:solidFill>
                <a:latin typeface="Inter"/>
              </a:rPr>
              <a:t>AI-Based Student Performance Predictor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307238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Language: </a:t>
            </a:r>
            <a:r>
              <a:rPr sz="1150" b="0">
                <a:solidFill>
                  <a:srgbClr val="334155"/>
                </a:solidFill>
                <a:latin typeface="Inter"/>
              </a:rPr>
              <a:t>C++17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65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AI Technique: </a:t>
            </a:r>
            <a:r>
              <a:rPr sz="1150" b="0">
                <a:solidFill>
                  <a:srgbClr val="334155"/>
                </a:solidFill>
                <a:latin typeface="Inter"/>
              </a:rPr>
              <a:t>k-Nearest Neighbours (k-NN)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858768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Prediction: </a:t>
            </a:r>
            <a:r>
              <a:rPr sz="1150" b="0">
                <a:solidFill>
                  <a:srgbClr val="334155"/>
                </a:solidFill>
                <a:latin typeface="Inter"/>
              </a:rPr>
              <a:t>Low / Medium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4251960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Interface: </a:t>
            </a:r>
            <a:r>
              <a:rPr sz="1150" b="0">
                <a:solidFill>
                  <a:srgbClr val="334155"/>
                </a:solidFill>
                <a:latin typeface="Inter"/>
              </a:rPr>
              <a:t>Menu-driven console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166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The system takes attendance, daily study hours, previous marks, and assignment completion as inputs, normalizes them, and predicts a student performance category using the nearest labelled examples.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5230368" cy="3474720"/>
          </a:xfrm>
          <a:prstGeom prst="rect">
            <a:avLst/>
          </a:prstGeom>
        </p:spPr>
      </p:pic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874519"/>
            <a:ext cx="5230368" cy="34747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941832" y="2157984"/>
            <a:ext cx="301752" cy="30175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255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!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1214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33472"/>
            <a:ext cx="4535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334155"/>
                </a:solidFill>
                <a:latin typeface="Inter"/>
              </a:rPr>
              <a:t>Academic performance is often judged only after exams. A lightweight early-warning tool can use routinely available indicators to estimate whether a student is moving toward Low, Medium, or High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325112"/>
            <a:ext cx="45354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Inter"/>
              </a:rPr>
              <a:t>The prototype must work locally, validate inputs, normalize different scales, compare records, and explain the result through its nearest neighbours.</a:t>
            </a:r>
          </a:p>
        </p:txBody>
      </p:sp>
      <p:sp>
        <p:nvSpPr>
          <p:cNvPr id="12" name="Oval 11"/>
          <p:cNvSpPr/>
          <p:nvPr/>
        </p:nvSpPr>
        <p:spPr>
          <a:xfrm>
            <a:off x="6757416" y="2157984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16255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1214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Solution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2633472"/>
            <a:ext cx="4535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334155"/>
                </a:solidFill>
                <a:latin typeface="Inter"/>
              </a:rPr>
              <a:t>Build a compact C++17 console application that implements k-NN from scratch rather than hiding the logic behind an external machine-learning framework.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4325112"/>
            <a:ext cx="45354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Inter"/>
              </a:rPr>
              <a:t>This keeps the AI workflow transparent: input → preprocessing → similarity calculation → neighbour voting →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Core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5960"/>
            <a:ext cx="2359152" cy="3246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Understand ML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Understand how a supervised classifier works internally instead of treating AI as a black box.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1965960"/>
            <a:ext cx="2359152" cy="32461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319272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Implement k-NN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Implement k-Nearest Neighbours from scratch using C++17 and the Standard Template Library.</a:t>
            </a:r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965960"/>
            <a:ext cx="2359152" cy="324612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870448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Prepare Fair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Normalize attendance, study hours, marks, and assignments so different scales contribute fairly.</a:t>
            </a:r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965960"/>
            <a:ext cx="2359152" cy="324612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412480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Build a Modular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Use reusable functions, input validation, readable output, and a console-based menu structure.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Technologies &amp; AI Toolchain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5960"/>
            <a:ext cx="2359152" cy="3246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C++17 &amp; STL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iostream, vector, algorithm, cmath, string, iomanip, and map keep the implementation self-contained.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1965960"/>
            <a:ext cx="2359152" cy="32461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319272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k-NN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Supervised learning with k=3, Euclidean distance, sorting, and majority voting.</a:t>
            </a:r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965960"/>
            <a:ext cx="2359152" cy="324612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870448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Data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Min-max normalization ensures percentages and study hours are comparable during distance calculations.</a:t>
            </a:r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965960"/>
            <a:ext cx="2359152" cy="324612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412480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Visual Studio Code / Code::Blocks with any C++17 compiler; menu-driven console interface.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321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Inter"/>
              </a:rPr>
              <a:t>Key design choice: no external ML library is required; the learning logic is implemented transparently in C++.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Sample Training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83080"/>
          <a:ext cx="1033271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874519"/>
                <a:gridCol w="1965960"/>
                <a:gridCol w="2057400"/>
                <a:gridCol w="2468880"/>
              </a:tblGrid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Attendance %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Study Hours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Prev. Marks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Assignments %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Class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1.0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52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1.5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48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2.0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2.5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62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68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3.0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74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3.5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71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76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88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84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90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41832" y="601675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64748B"/>
                </a:solidFill>
                <a:latin typeface="Inter"/>
              </a:rPr>
              <a:t>Nine labelled examples are stored in memory and act as the reference set for nearest-neighbour 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425196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95681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Processing Layers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2505456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0028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487168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Input: </a:t>
            </a:r>
            <a:r>
              <a:rPr sz="1080" b="0">
                <a:solidFill>
                  <a:srgbClr val="334155"/>
                </a:solidFill>
                <a:latin typeface="Inter"/>
              </a:rPr>
              <a:t>Attendance, study hours, previous marks, assignments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172968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77540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54680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Preprocessing: </a:t>
            </a:r>
            <a:r>
              <a:rPr sz="1080" b="0">
                <a:solidFill>
                  <a:srgbClr val="334155"/>
                </a:solidFill>
                <a:latin typeface="Inter"/>
              </a:rPr>
              <a:t>Range validation + min-max normalization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840479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45051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22191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AI Classification: </a:t>
            </a:r>
            <a:r>
              <a:rPr sz="1080" b="0">
                <a:solidFill>
                  <a:srgbClr val="334155"/>
                </a:solidFill>
                <a:latin typeface="Inter"/>
              </a:rPr>
              <a:t>Euclidean distance to all training samples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507992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12564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489704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Decision: </a:t>
            </a:r>
            <a:r>
              <a:rPr sz="1080" b="0">
                <a:solidFill>
                  <a:srgbClr val="334155"/>
                </a:solidFill>
                <a:latin typeface="Inter"/>
              </a:rPr>
              <a:t>Select k=3 and use majority voting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5175504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8007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5157216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Output: </a:t>
            </a:r>
            <a:r>
              <a:rPr sz="1080" b="0">
                <a:solidFill>
                  <a:srgbClr val="334155"/>
                </a:solidFill>
                <a:latin typeface="Inter"/>
              </a:rPr>
              <a:t>Predicted class + nearest-neighbour details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4 features</a:t>
            </a:r>
          </a:p>
        </p:txBody>
      </p:sp>
      <p:sp>
        <p:nvSpPr>
          <p:cNvPr id="25" name="Chevron 24"/>
          <p:cNvSpPr/>
          <p:nvPr/>
        </p:nvSpPr>
        <p:spPr>
          <a:xfrm>
            <a:off x="6272784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9944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Normalize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0–1 scale</a:t>
            </a:r>
          </a:p>
        </p:txBody>
      </p:sp>
      <p:sp>
        <p:nvSpPr>
          <p:cNvPr id="29" name="Chevron 28"/>
          <p:cNvSpPr/>
          <p:nvPr/>
        </p:nvSpPr>
        <p:spPr>
          <a:xfrm>
            <a:off x="7607807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44967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Distance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Euclidean</a:t>
            </a:r>
          </a:p>
        </p:txBody>
      </p:sp>
      <p:sp>
        <p:nvSpPr>
          <p:cNvPr id="33" name="Chevron 32"/>
          <p:cNvSpPr/>
          <p:nvPr/>
        </p:nvSpPr>
        <p:spPr>
          <a:xfrm>
            <a:off x="8942831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79992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k-NN + Vote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k = 3</a:t>
            </a:r>
          </a:p>
        </p:txBody>
      </p:sp>
      <p:sp>
        <p:nvSpPr>
          <p:cNvPr id="37" name="Chevron 36"/>
          <p:cNvSpPr/>
          <p:nvPr/>
        </p:nvSpPr>
        <p:spPr>
          <a:xfrm>
            <a:off x="10277855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15016" y="2029968"/>
            <a:ext cx="1170432" cy="841248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Predict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Low / Med / High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30368" y="3291840"/>
            <a:ext cx="5925312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511296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Poppins"/>
              </a:rPr>
              <a:t>Min–max normalization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3822191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Consolas"/>
              </a:rPr>
              <a:t>normalized = (x − min) / (max − min)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233672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Inter"/>
              </a:rPr>
              <a:t>Then calculate Euclidean distance across the four normalized features.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498348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Inter"/>
              </a:rPr>
              <a:t>Why normalize? Attendance and marks are percentages, while study hours use a much smaller numeric range.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k-NN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685032"/>
            <a:ext cx="1046988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1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856231"/>
            <a:ext cx="1627632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2020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6829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Read four inputs and verify their ranges.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2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3" y="4023360"/>
            <a:ext cx="1627632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7168" y="41879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53542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Convert each feature to a 0–1 scale.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3</a:t>
            </a:r>
          </a:p>
        </p:txBody>
      </p:sp>
      <p:pic>
        <p:nvPicPr>
          <p:cNvPr id="18" name="Picture 1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3" y="1856231"/>
            <a:ext cx="1627632" cy="1234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15968" y="2020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36829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Compute Euclidean distance to each sample.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4</a:t>
            </a:r>
          </a:p>
        </p:txBody>
      </p:sp>
      <p:pic>
        <p:nvPicPr>
          <p:cNvPr id="23" name="Picture 2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4023360"/>
            <a:ext cx="1627632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44768" y="41879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53542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Sort and keep the three nearest neighbours.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5</a:t>
            </a:r>
          </a:p>
        </p:txBody>
      </p:sp>
      <p:pic>
        <p:nvPicPr>
          <p:cNvPr id="28" name="Picture 2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1856231"/>
            <a:ext cx="1627632" cy="1234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73568" y="2020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Vote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236829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Count Low / Medium / High labels.</a:t>
            </a:r>
          </a:p>
        </p:txBody>
      </p:sp>
      <p:sp>
        <p:nvSpPr>
          <p:cNvPr id="31" name="Oval 30"/>
          <p:cNvSpPr/>
          <p:nvPr/>
        </p:nvSpPr>
        <p:spPr>
          <a:xfrm>
            <a:off x="98755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6</a:t>
            </a:r>
          </a:p>
        </p:txBody>
      </p:sp>
      <p:pic>
        <p:nvPicPr>
          <p:cNvPr id="33" name="Picture 3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4023360"/>
            <a:ext cx="1627632" cy="12344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02368" y="41879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453542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Show the predicted class and neighbours.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815584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30" b="1">
                <a:solidFill>
                  <a:srgbClr val="0E7490"/>
                </a:solidFill>
                <a:latin typeface="Inter"/>
              </a:rPr>
              <a:t>The project uses k = 3, so the predicted label is the majority class among the three closest labelled records.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C++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6629400" cy="4498848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6053328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0">
                <a:solidFill>
                  <a:srgbClr val="E2E8F0"/>
                </a:solidFill>
                <a:latin typeface="Consolas"/>
              </a:rPr>
              <a:t>struct Student {
    double attendance, studyHours;
    double previousMarks, assignments;
    string label;
};
double normalize(double x, double minV, double maxV) {
    return (maxV == minV) ? 0.0 :
           (x - minV) / (maxV - minV);
}
// Calculate distances, sort neighbours,
// then use majority voting for k = 3.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3" y="1737360"/>
            <a:ext cx="3749039" cy="1261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36992" y="1993392"/>
            <a:ext cx="31638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2340864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Student structure stores four features plus the labelled performance class.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3" y="3218688"/>
            <a:ext cx="3749039" cy="1261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6992" y="3474720"/>
            <a:ext cx="31638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Reusable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3822191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Separate functions handle normalization, distance calculation, prediction, and input validation.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3" y="4700016"/>
            <a:ext cx="3749039" cy="12618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36992" y="4956048"/>
            <a:ext cx="31638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Transparent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5303520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The console prints nearest-neighbour distances so the prediction can be traced and explained.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Testing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779008" cy="44348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2578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onsolas"/>
              </a:rPr>
              <a:t>=== AI-Based Student Performance Predictor ===
Attendance (0-100): 79
Daily study hours (0-12): 4.2
Previous marks (0-100): 76
Assignments completed % (0-100): 82
Nearest neighbours:
1. High    distance=0.143
2. Medium  distance=0.181
3. High    distance=0.304
Predicted Performance Category: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755648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Poppins"/>
              </a:rPr>
              <a:t>Representative Test Cases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395728"/>
            <a:ext cx="4343400" cy="832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59168" y="254203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334155"/>
                </a:solidFill>
                <a:latin typeface="Inter"/>
              </a:rPr>
              <a:t>Input: 86 / 5.0 / 82 /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3808" y="2542032"/>
            <a:ext cx="9509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57232" y="2505456"/>
            <a:ext cx="1024128" cy="3017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7232" y="25146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3438144"/>
            <a:ext cx="4343400" cy="8321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59168" y="358444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334155"/>
                </a:solidFill>
                <a:latin typeface="Inter"/>
              </a:rPr>
              <a:t>Input: 69 / 3.0 / 66 / 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3584448"/>
            <a:ext cx="9509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Poppins"/>
              </a:rPr>
              <a:t>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57232" y="3547872"/>
            <a:ext cx="1024128" cy="3017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57232" y="3557015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Medium</a:t>
            </a:r>
          </a:p>
        </p:txBody>
      </p:sp>
      <p:pic>
        <p:nvPicPr>
          <p:cNvPr id="18" name="Picture 1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4343400" cy="8321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59168" y="46268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334155"/>
                </a:solidFill>
                <a:latin typeface="Inter"/>
              </a:rPr>
              <a:t>Input: 50 / 1.3 / 46 / 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4626864"/>
            <a:ext cx="9509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Poppins"/>
              </a:rPr>
              <a:t>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57232" y="4590288"/>
            <a:ext cx="1024128" cy="3017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4599432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564184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Test outputs are intended for demonstration and learning, not official academic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Expected Outcomes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5230368" cy="4315968"/>
          </a:xfrm>
          <a:prstGeom prst="rect">
            <a:avLst/>
          </a:prstGeom>
        </p:spPr>
      </p:pic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783080"/>
            <a:ext cx="5230368" cy="4315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084831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>
                <a:solidFill>
                  <a:srgbClr val="1E3A8A"/>
                </a:solidFill>
                <a:latin typeface="Poppins"/>
              </a:rPr>
              <a:t>Expected Learning Outcomes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2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83764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642616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Understand a complete classification flow: data → preprocessing → distance → voting → output.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37560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4213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00984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Practice C++ structures, vectors, maps, sorting, functions, loops, and input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995928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00500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959352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Explain why feature scaling matters for distance-based algorithms.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654296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658868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617720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Interpret an AI prediction through its nearest records instead of a black-box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084831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>
                <a:solidFill>
                  <a:srgbClr val="1E3A8A"/>
                </a:solidFill>
                <a:latin typeface="Poppins"/>
              </a:rPr>
              <a:t>Future Scope</a:t>
            </a:r>
          </a:p>
        </p:txBody>
      </p:sp>
      <p:sp>
        <p:nvSpPr>
          <p:cNvPr id="21" name="Oval 20"/>
          <p:cNvSpPr/>
          <p:nvPr/>
        </p:nvSpPr>
        <p:spPr>
          <a:xfrm>
            <a:off x="6757416" y="2679192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2683764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642616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Read larger datasets from CSV files or a database.</a:t>
            </a:r>
          </a:p>
        </p:txBody>
      </p:sp>
      <p:sp>
        <p:nvSpPr>
          <p:cNvPr id="24" name="Oval 23"/>
          <p:cNvSpPr/>
          <p:nvPr/>
        </p:nvSpPr>
        <p:spPr>
          <a:xfrm>
            <a:off x="6757416" y="324612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325069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3209544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Use weighted k-NN and automatically select k through validation.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6757416" y="3813048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3817620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377647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Add quiz scores, backlog count, and other academic indicators.</a:t>
            </a:r>
          </a:p>
        </p:txBody>
      </p:sp>
      <p:sp>
        <p:nvSpPr>
          <p:cNvPr id="30" name="Oval 29"/>
          <p:cNvSpPr/>
          <p:nvPr/>
        </p:nvSpPr>
        <p:spPr>
          <a:xfrm>
            <a:off x="6757416" y="4379976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384548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434340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Evaluate accuracy with train-test splits and compare other models.</a:t>
            </a:r>
          </a:p>
        </p:txBody>
      </p:sp>
      <p:sp>
        <p:nvSpPr>
          <p:cNvPr id="33" name="Oval 32"/>
          <p:cNvSpPr/>
          <p:nvPr/>
        </p:nvSpPr>
        <p:spPr>
          <a:xfrm>
            <a:off x="6757416" y="4946904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7416" y="495147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4910328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Connect the engine to a Qt UI, web API, or campus dashboard.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508760"/>
            <a:ext cx="6629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063240"/>
            <a:ext cx="8183879" cy="1783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50592" y="34015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E3A8A"/>
                </a:solidFill>
                <a:latin typeface="Poppins"/>
              </a:rPr>
              <a:t>ZUMAIR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380390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Inter"/>
              </a:rPr>
              <a:t>Roll No: 25SCS1003004879</a:t>
            </a:r>
          </a:p>
        </p:txBody>
      </p:sp>
      <p:sp>
        <p:nvSpPr>
          <p:cNvPr id="7" name="Rectangle 6"/>
          <p:cNvSpPr/>
          <p:nvPr/>
        </p:nvSpPr>
        <p:spPr>
          <a:xfrm>
            <a:off x="5833872" y="3474720"/>
            <a:ext cx="18288" cy="7132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3401568"/>
            <a:ext cx="34930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1">
                <a:solidFill>
                  <a:srgbClr val="0F172A"/>
                </a:solidFill>
                <a:latin typeface="Poppins"/>
              </a:rPr>
              <a:t>AI-Based Student Performance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3803904"/>
            <a:ext cx="34930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Inter"/>
              </a:rPr>
              <a:t>C++17 • k-NN •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3949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Poppins"/>
              </a:rPr>
              <a:t>School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57332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